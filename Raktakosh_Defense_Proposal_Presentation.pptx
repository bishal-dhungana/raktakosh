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749808"/>
            <a:ext cx="60350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lang="en-US">
                <a:solidFill>
                  <a:srgbClr val="C62F34"/>
                </a:solidFill>
                <a:latin typeface="Aptos"/>
              </a:defRPr>
            </a:pPr>
            <a:r>
              <a:t>MINOR PROJECT DEFENSE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481328"/>
            <a:ext cx="73152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 lang="en-US">
                <a:solidFill>
                  <a:srgbClr val="2A2426"/>
                </a:solidFill>
                <a:latin typeface="Aptos Display"/>
              </a:defRPr>
            </a:pPr>
            <a:r>
              <a:t>Raktakosh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423160"/>
            <a:ext cx="8869680" cy="8412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0" lang="en-US">
                <a:solidFill>
                  <a:srgbClr val="443F41"/>
                </a:solidFill>
                <a:latin typeface="Aptos Display"/>
              </a:defRPr>
            </a:pPr>
            <a:r>
              <a:t>A Real-Time Web System for Blood Inventory</a:t>
            </a:r>
            <a:br/>
            <a:r>
              <a:t>and Donor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73075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716A6C"/>
                </a:solidFill>
                <a:latin typeface="Aptos"/>
              </a:defRPr>
            </a:pPr>
            <a:r>
              <a:t>Submitted by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133087"/>
            <a:ext cx="6126480" cy="9875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lang="en-US">
                <a:solidFill>
                  <a:srgbClr val="2A2426"/>
                </a:solidFill>
                <a:latin typeface="Aptos"/>
              </a:defRPr>
            </a:pPr>
            <a:r>
              <a:t>Sambridhee Dhakal [23070563]</a:t>
            </a:r>
            <a:br/>
            <a:r>
              <a:t>Deepika Adhikari [23070542]</a:t>
            </a:r>
            <a:br/>
            <a:r>
              <a:t>Nischal Dahal [22070029]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5577840"/>
            <a:ext cx="5303520" cy="8046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lang="en-US">
                <a:solidFill>
                  <a:srgbClr val="443F41"/>
                </a:solidFill>
                <a:latin typeface="Aptos"/>
              </a:defRPr>
            </a:pPr>
            <a:r>
              <a:t>Department of Computer Engineering</a:t>
            </a:r>
            <a:br/>
            <a:r>
              <a:t>Madan Bhandari College of Engineering</a:t>
            </a:r>
            <a:br/>
            <a:r>
              <a:t>Urlabari–3, Morang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6080760"/>
            <a:ext cx="2240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C62F34"/>
                </a:solidFill>
                <a:latin typeface="Aptos"/>
              </a:defRPr>
            </a:pPr>
            <a:r>
              <a:t>PRJ 360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64208"/>
            <a:ext cx="7863840" cy="4480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1. Introduction &amp; background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2. Problem statement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3. Objectives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4. Literature review &amp; research gap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5. Proposed solution &amp; scope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6. Methodology &amp; system design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7. Implementation &amp; deployment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8. Gantt chart &amp; future work</a:t>
            </a:r>
          </a:p>
          <a:p>
            <a:pPr>
              <a:spcAft>
                <a:spcPts val="1300"/>
              </a:spcAft>
              <a:defRPr sz="2100" lang="en-US">
                <a:solidFill>
                  <a:srgbClr val="443F41"/>
                </a:solidFill>
                <a:latin typeface="Aptos"/>
              </a:defRPr>
            </a:pPr>
            <a:r>
              <a:t>9.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Introduction &amp;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10652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 lang="en-US">
                <a:solidFill>
                  <a:srgbClr val="716A6C"/>
                </a:solidFill>
                <a:latin typeface="Aptos"/>
              </a:defRPr>
            </a:pPr>
            <a:r>
              <a:t>Raktakosh supports responsible blood-service coordination through a simple web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33272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Connects people seeking blood, voluntary donors, verified Blood Banks, and administrators.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Helps families locate verified Blood Bank information without repeated manual searching.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Supports private blood requests and facility-led coordination.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Uses consent-first donor communication and privacy-aware workflows.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Clinical decisions remain with licensed Blood Banks.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10652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 lang="en-US">
                <a:solidFill>
                  <a:srgbClr val="716A6C"/>
                </a:solidFill>
                <a:latin typeface="Aptos"/>
              </a:defRPr>
            </a:pPr>
            <a:r>
              <a:t>Blood emergencies can become more difficult when availability and communication are fragmented.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828800"/>
            <a:ext cx="10332720" cy="3566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Families may call multiple facilities or make public social-media appeals to find blood.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Blood availability information can be difficult to find or confirm before travelling.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Personal details can be exposed when requests are handled through public posts.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Manual coordination may not provide a clear status history or accountable follow-up.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A verified, private, and facility-led coordination flow 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19072"/>
            <a:ext cx="10332720" cy="374903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1. Centralize coordination between seekers, donors, verified Blood Banks, and administrators.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2. Improve visibility of facility-reported blood availability by district and component.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3. Support private requests, document review, status updates, and facility follow-up.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4. Maintain consent-based donor coordination when facility inventory is unavailable.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5. Strengthen accountability through role-based access and audit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Literature review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Hamro Life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074920" cy="21762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Supports emergency blood search through a hotline and online communication channels.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Shows the importance of organized blood-request coordination.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Research gap: the process remains heavily dependent on centralized operators.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682496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Nepal Red Cross Society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48840"/>
            <a:ext cx="5029200" cy="21762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Supports blood-service operations, stock monitoring, and donor record management.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Shows the value of digital inventory and donor information systems.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Research gap: limited end-to-end private requester-to-facility coordination.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3659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Raktakosh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101955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000"/>
              </a:spcAft>
              <a:defRPr sz="1900" lang="en-US">
                <a:solidFill>
                  <a:srgbClr val="443F41"/>
                </a:solidFill>
                <a:latin typeface="Aptos"/>
              </a:defRPr>
            </a:pPr>
            <a:r>
              <a:t>• A single platform for discovery, requests, facility workflows, donor outreach, and auditability.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Proposed solution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00784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What the platform provides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57984"/>
            <a:ext cx="5047488" cy="2743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Public Blood Bank discovery by district, group, Rh factor, and component.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Private blood requests with supporting documents for facility review.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Facility inventory updates, case status tracking, and donor outreach workflows.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Responsive English and Nepali public interface support.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700784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Important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57984"/>
            <a:ext cx="4992624" cy="234086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Does not determine clinical compatibility or medical donor eligibility.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Does not guarantee reservations, laboratory testing, or transfusion availability.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Does not replace the responsibility of participating Blood Banks.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4983480"/>
            <a:ext cx="48006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 lang="en-US">
                <a:solidFill>
                  <a:srgbClr val="C62F34"/>
                </a:solidFill>
                <a:latin typeface="Aptos"/>
              </a:defRPr>
            </a:pPr>
            <a:r>
              <a:t>Every clinical decision remains with the licensed Blood Bank.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Methodology &amp;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Iterative Agile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02920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1. Requirement analysis: identify users, problems, and project scope.</a:t>
            </a:r>
          </a:p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2. System design: plan the data structure, modules, and user workflows.</a:t>
            </a:r>
          </a:p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3. Development: build frontend, backend, database, and core workflows.</a:t>
            </a:r>
          </a:p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4. Testing and review: refine features using feedback and verification.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682496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Three-tier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48840"/>
            <a:ext cx="4992624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1. Presentation layer: React, TypeScript, and Vite for responsive user interfaces.</a:t>
            </a:r>
          </a:p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2. Application layer: Node.js and Express for validation, workflows, and access control.</a:t>
            </a:r>
          </a:p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3. Data layer: TiDB Cloud or MySQL for users, inventory, requests, and audit data.</a:t>
            </a:r>
          </a:p>
          <a:p>
            <a:pPr>
              <a:spcAft>
                <a:spcPts val="12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4. Deployment: Vercel frontend and Render API hosting.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Users, roles &amp; key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Users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029200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Guest or requester: search public information and submit a private request.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Donor: manage consent and availability, then respond to controlled outreach.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Facility team: update availability, review cases, and coordinate next steps.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Platform administrator: verify facilities and review governance activity.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682496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Key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4496" y="2148840"/>
            <a:ext cx="5010912" cy="2880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Public discovery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Request coordination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Donor management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Facility inventory and request review</a:t>
            </a:r>
          </a:p>
          <a:p>
            <a:pPr>
              <a:spcAft>
                <a:spcPts val="11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Governance and audit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End-to-end coordination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4279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1. A user searches for a Blood Bank using district and blood-component information.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2. The requester submits a private request with the required supporting document.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3. Authorized facility staff review the request and reported availability.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4. If inventory is available, the facility coordinates the next safe operational step.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5. If inventory is unavailable, the facility may start controlled consent-based donor outreach.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6. Status updates and audit records are maintained throughout the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Technology stack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3840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Frontend: React, TypeScript, and Vite for a responsive public website and role-aware workspaces.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Backend: Node.js and Express for validation, workflow rules, sessions, and API endpoints.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Database: TiDB Cloud or MySQL for users, inventory, requests, policies, and audit records.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Deployment: Vercel hosts the frontend and Render hosts the API.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Security: server-side role checks, CSRF protection, rate limits, and controlled document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Current website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3767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The deployed public website is available for Blood Bank discovery and public information.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Private request workflow and facility inventory workflow have been implemented.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Facility review and controlled donor coordination features are included in the current system.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User authentication and completion of the user-side account flow are still in progress.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Guest search remains available without creating an account.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669280"/>
            <a:ext cx="10222992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C62F34"/>
                </a:solidFill>
                <a:latin typeface="Aptos"/>
              </a:defRPr>
            </a:pPr>
            <a:r>
              <a:t>Current status: public discovery, request pathway, and facility workflow are available; user authentication is in progress.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System 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33856"/>
            <a:ext cx="10652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 lang="en-US">
                <a:solidFill>
                  <a:srgbClr val="716A6C"/>
                </a:solidFill>
                <a:latin typeface="Aptos"/>
              </a:defRPr>
            </a:pPr>
            <a:r>
              <a:t>This diagram shows how information moves through the Raktakosh platform.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874519"/>
            <a:ext cx="2148840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6656" y="2020824"/>
            <a:ext cx="192938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2A2426"/>
                </a:solidFill>
                <a:latin typeface="Aptos"/>
              </a:defRPr>
            </a:pPr>
            <a:r>
              <a:t>Guest / requester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404872"/>
            <a:ext cx="189280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lang="en-US">
                <a:solidFill>
                  <a:srgbClr val="443F41"/>
                </a:solidFill>
                <a:latin typeface="Aptos"/>
              </a:defRPr>
            </a:pPr>
            <a:r>
              <a:t>Searches Blood Banks</a:t>
            </a:r>
            <a:br/>
            <a:r>
              <a:t>and submits private requests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096512"/>
            <a:ext cx="2148840" cy="1170432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4242816"/>
            <a:ext cx="192938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2A2426"/>
                </a:solidFill>
                <a:latin typeface="Aptos"/>
              </a:defRPr>
            </a:pPr>
            <a:r>
              <a:t>Donor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4626864"/>
            <a:ext cx="189280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lang="en-US">
                <a:solidFill>
                  <a:srgbClr val="443F41"/>
                </a:solidFill>
                <a:latin typeface="Aptos"/>
              </a:defRPr>
            </a:pPr>
            <a:r>
              <a:t>Sets consent and</a:t>
            </a:r>
            <a:br/>
            <a:r>
              <a:t>responds to outreach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0712" y="2834640"/>
            <a:ext cx="2359152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980944"/>
            <a:ext cx="2139696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2A2426"/>
                </a:solidFill>
                <a:latin typeface="Aptos"/>
              </a:defRPr>
            </a:pPr>
            <a:r>
              <a:t>Raktakosh web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364992"/>
            <a:ext cx="210312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lang="en-US">
                <a:solidFill>
                  <a:srgbClr val="443F41"/>
                </a:solidFill>
                <a:latin typeface="Aptos"/>
              </a:defRPr>
            </a:pPr>
            <a:r>
              <a:t>React + TypeScript</a:t>
            </a:r>
            <a:br/>
            <a:r>
              <a:t>Public pages and dashboards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5664" y="2834640"/>
            <a:ext cx="2542032" cy="1298448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980944"/>
            <a:ext cx="2322576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2A2426"/>
                </a:solidFill>
                <a:latin typeface="Aptos"/>
              </a:defRPr>
            </a:pPr>
            <a:r>
              <a:t>API &amp;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3364992"/>
            <a:ext cx="22860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lang="en-US">
                <a:solidFill>
                  <a:srgbClr val="443F41"/>
                </a:solidFill>
                <a:latin typeface="Aptos"/>
              </a:defRPr>
            </a:pPr>
            <a:r>
              <a:t>Express API</a:t>
            </a:r>
            <a:br/>
            <a:r>
              <a:t>Validation · permissions · status updates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55664" y="4992624"/>
            <a:ext cx="2542032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5138928"/>
            <a:ext cx="2322576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2A2426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5522976"/>
            <a:ext cx="228600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lang="en-US">
                <a:solidFill>
                  <a:srgbClr val="443F41"/>
                </a:solidFill>
                <a:latin typeface="Aptos"/>
              </a:defRPr>
            </a:pPr>
            <a:r>
              <a:t>TiDB Cloud / MySQL</a:t>
            </a:r>
            <a:br/>
            <a:r>
              <a:t>Users · requests · inventory · audit records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56064" y="1874519"/>
            <a:ext cx="2011680" cy="1481328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2020824"/>
            <a:ext cx="179222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2A2426"/>
                </a:solidFill>
                <a:latin typeface="Aptos"/>
              </a:defRPr>
            </a:pPr>
            <a:r>
              <a:t>Blood Bank staff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404872"/>
            <a:ext cx="1755648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lang="en-US">
                <a:solidFill>
                  <a:srgbClr val="443F41"/>
                </a:solidFill>
                <a:latin typeface="Aptos"/>
              </a:defRPr>
            </a:pPr>
            <a:r>
              <a:t>Updates inventory</a:t>
            </a:r>
            <a:br/>
            <a:r>
              <a:t>Reviews requests</a:t>
            </a:r>
            <a:br/>
            <a:r>
              <a:t>Starts donor outreach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56064" y="4343400"/>
            <a:ext cx="2011680" cy="1325880"/>
          </a:xfrm>
          <a:prstGeom prst="rect">
            <a:avLst/>
          </a:prstGeom>
          <a:solidFill>
            <a:srgbClr val="FFFFFF"/>
          </a:solidFill>
          <a:ln w="15875"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65792" y="4489704"/>
            <a:ext cx="1792224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lang="en-US">
                <a:solidFill>
                  <a:srgbClr val="2A2426"/>
                </a:solidFill>
                <a:latin typeface="Aptos"/>
              </a:defRPr>
            </a:pPr>
            <a:r>
              <a:t>Facility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873752"/>
            <a:ext cx="1755648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lang="en-US">
                <a:solidFill>
                  <a:srgbClr val="443F41"/>
                </a:solidFill>
                <a:latin typeface="Aptos"/>
              </a:defRPr>
            </a:pPr>
            <a:r>
              <a:t>Availability confirmed</a:t>
            </a:r>
            <a:br/>
            <a:r>
              <a:t>or controlled donor coordination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734056" y="2331720"/>
            <a:ext cx="557784" cy="219456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87168" y="1901952"/>
            <a:ext cx="113385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lang="en-US">
                <a:solidFill>
                  <a:srgbClr val="C62F34"/>
                </a:solidFill>
                <a:latin typeface="Aptos"/>
              </a:defRPr>
            </a:pPr>
            <a:r>
              <a:t>Search / request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734056" y="4599432"/>
            <a:ext cx="557784" cy="219456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14016" y="4928616"/>
            <a:ext cx="129844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lang="en-US">
                <a:solidFill>
                  <a:srgbClr val="C62F34"/>
                </a:solidFill>
                <a:latin typeface="Aptos"/>
              </a:defRPr>
            </a:pPr>
            <a:r>
              <a:t>Consent response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797296" y="3364992"/>
            <a:ext cx="502920" cy="228600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9008" y="3026664"/>
            <a:ext cx="56692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lang="en-US">
                <a:solidFill>
                  <a:srgbClr val="C62F34"/>
                </a:solidFill>
                <a:latin typeface="Aptos"/>
              </a:defRPr>
            </a:pPr>
            <a:r>
              <a:t>HTTPS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7534656" y="4233672"/>
            <a:ext cx="274320" cy="512064"/>
          </a:xfrm>
          <a:prstGeom prst="down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35824" y="4416552"/>
            <a:ext cx="960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lang="en-US">
                <a:solidFill>
                  <a:srgbClr val="C62F34"/>
                </a:solidFill>
                <a:latin typeface="Aptos"/>
              </a:defRPr>
            </a:pPr>
            <a:r>
              <a:t>Read / write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107424" y="2487168"/>
            <a:ext cx="420624" cy="228600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2" y="1993392"/>
            <a:ext cx="111556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lang="en-US">
                <a:solidFill>
                  <a:srgbClr val="C62F34"/>
                </a:solidFill>
                <a:latin typeface="Aptos"/>
              </a:defRPr>
            </a:pPr>
            <a:r>
              <a:t>Staff actions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107424" y="4818888"/>
            <a:ext cx="420624" cy="228600"/>
          </a:xfrm>
          <a:prstGeom prst="rightArrow">
            <a:avLst/>
          </a:prstGeom>
          <a:solidFill>
            <a:srgbClr val="C62F34"/>
          </a:solidFill>
          <a:ln>
            <a:solidFill>
              <a:srgbClr val="C62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5184648"/>
            <a:ext cx="5303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lang="en-US">
                <a:solidFill>
                  <a:srgbClr val="C62F34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6355080"/>
            <a:ext cx="106070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0" lang="en-US">
                <a:solidFill>
                  <a:srgbClr val="716A6C"/>
                </a:solidFill>
                <a:latin typeface="Aptos"/>
              </a:defRPr>
            </a:pPr>
            <a:r>
              <a:t>All sensitive actions are validated by the API and recorded as audit events.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Gantt chart: project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82496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Completed and current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48840"/>
            <a:ext cx="5806440" cy="3794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200"/>
              </a:spcAft>
              <a:defRPr sz="1900" lang="en-US">
                <a:solidFill>
                  <a:srgbClr val="443F41"/>
                </a:solidFill>
                <a:latin typeface="Aptos"/>
              </a:defRPr>
            </a:pPr>
            <a:r>
              <a:t>1. May: problem study and literature review.</a:t>
            </a:r>
          </a:p>
          <a:p>
            <a:pPr>
              <a:spcAft>
                <a:spcPts val="1200"/>
              </a:spcAft>
              <a:defRPr sz="1900" lang="en-US">
                <a:solidFill>
                  <a:srgbClr val="443F41"/>
                </a:solidFill>
                <a:latin typeface="Aptos"/>
              </a:defRPr>
            </a:pPr>
            <a:r>
              <a:t>2. June: requirements analysis and system design.</a:t>
            </a:r>
          </a:p>
          <a:p>
            <a:pPr>
              <a:spcAft>
                <a:spcPts val="1200"/>
              </a:spcAft>
              <a:defRPr sz="1900" lang="en-US">
                <a:solidFill>
                  <a:srgbClr val="443F41"/>
                </a:solidFill>
                <a:latin typeface="Aptos"/>
              </a:defRPr>
            </a:pPr>
            <a:r>
              <a:t>3. June–July: UI and public website development.</a:t>
            </a:r>
          </a:p>
          <a:p>
            <a:pPr>
              <a:spcAft>
                <a:spcPts val="1200"/>
              </a:spcAft>
              <a:defRPr sz="1900" lang="en-US">
                <a:solidFill>
                  <a:srgbClr val="443F41"/>
                </a:solidFill>
                <a:latin typeface="Aptos"/>
              </a:defRPr>
            </a:pPr>
            <a:r>
              <a:t>4. July: backend, database, and workflow implementation.</a:t>
            </a:r>
          </a:p>
          <a:p>
            <a:pPr>
              <a:spcAft>
                <a:spcPts val="1200"/>
              </a:spcAft>
              <a:defRPr sz="1900" lang="en-US">
                <a:solidFill>
                  <a:srgbClr val="443F41"/>
                </a:solidFill>
                <a:latin typeface="Aptos"/>
              </a:defRPr>
            </a:pPr>
            <a:r>
              <a:t>5. July: user authentication completion is in progress.</a:t>
            </a:r>
          </a:p>
          <a:p>
            <a:pPr>
              <a:spcAft>
                <a:spcPts val="1200"/>
              </a:spcAft>
              <a:defRPr sz="1900" lang="en-US">
                <a:solidFill>
                  <a:srgbClr val="443F41"/>
                </a:solidFill>
                <a:latin typeface="Aptos"/>
              </a:defRPr>
            </a:pPr>
            <a:r>
              <a:t>6. August: testing, refinement, and defense preparation.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682496"/>
            <a:ext cx="36576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 lang="en-US">
                <a:solidFill>
                  <a:srgbClr val="C62F34"/>
                </a:solidFill>
                <a:latin typeface="Aptos Display"/>
              </a:defRPr>
            </a:pPr>
            <a:r>
              <a:t>Timeline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3488" y="2148840"/>
            <a:ext cx="3730752" cy="2578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3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Completed: research, design, UI, backend, and core workflows.</a:t>
            </a:r>
          </a:p>
          <a:p>
            <a:pPr>
              <a:spcAft>
                <a:spcPts val="13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In progress: user authentication.</a:t>
            </a:r>
          </a:p>
          <a:p>
            <a:pPr>
              <a:spcAft>
                <a:spcPts val="1300"/>
              </a:spcAft>
              <a:defRPr sz="1800" lang="en-US">
                <a:solidFill>
                  <a:srgbClr val="443F41"/>
                </a:solidFill>
                <a:latin typeface="Aptos"/>
              </a:defRPr>
            </a:pPr>
            <a:r>
              <a:t>• Planned: final testing, refinement, and presentation defense.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755648"/>
            <a:ext cx="10351008" cy="43159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1. Complete user authentication and account verification.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2. Finish end-to-end testing for request, inventory, and role-based workflows.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3. Add SMS or email notification integration for important updates.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4. Conduct usability testing with donors, families, and facility staff.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5. Onboard additional verified Blood Banks and improve coverage.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6. Improve Nepali content, accessibility, monitoring, and reporting.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530352"/>
            <a:ext cx="10744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 lang="en-US">
                <a:solidFill>
                  <a:srgbClr val="2A2426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27632"/>
            <a:ext cx="10168128" cy="6766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 lang="en-US">
                <a:solidFill>
                  <a:srgbClr val="2A2426"/>
                </a:solidFill>
                <a:latin typeface="Aptos Display"/>
              </a:defRPr>
            </a:pPr>
            <a:r>
              <a:t>Raktakosh brings structure to a time-sensitive coordination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743200"/>
            <a:ext cx="10314432" cy="2633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Provides one platform for verified discovery, private requests, and facility-led coordination.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Improves transparency through reported availability, workflow status, and audit records.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Uses consent-first donor coordination while keeping clinical decisions with Blood Banks.</a:t>
            </a:r>
          </a:p>
          <a:p>
            <a:pPr>
              <a:spcAft>
                <a:spcPts val="1500"/>
              </a:spcAft>
              <a:defRPr sz="2000" lang="en-US">
                <a:solidFill>
                  <a:srgbClr val="443F41"/>
                </a:solidFill>
                <a:latin typeface="Aptos"/>
              </a:defRPr>
            </a:pPr>
            <a:r>
              <a:t>• The current prototype is deployed, with user authentication identified as the remaining in-progress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806440"/>
            <a:ext cx="3657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lang="en-US">
                <a:solidFill>
                  <a:srgbClr val="C62F34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208776"/>
            <a:ext cx="4754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 lang="en-US">
                <a:solidFill>
                  <a:srgbClr val="716A6C"/>
                </a:solidFill>
                <a:latin typeface="Aptos"/>
              </a:defRPr>
            </a:pPr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Raktakosh — Minor Project Defense Proposal</dc:title>
  <dc:subject>Raktakosh blood coordination platform</dc:subject>
  <dc:creator>Sambridhee Dhakal, Deepika Adhikari, Nischal Dahal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